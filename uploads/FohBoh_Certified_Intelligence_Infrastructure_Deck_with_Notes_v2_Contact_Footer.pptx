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84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with category, not product: FohBoh is building the trust layer under enterprise AI.</a:t>
            </a:r>
          </a:p>
          <a:p>
            <a:r>
              <a:rPr lang="en-US"/>
              <a:t>Sentry is proof of MGE in-market; the financing completes the infrastructure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core thesis: better models do not certify business truth.</a:t>
            </a:r>
          </a:p>
          <a:p>
            <a:r>
              <a:rPr lang="en-US"/>
              <a:t>We govern the facts and metrics before AI, agents, or executives act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Gartner as the timing hook: agent adoption is rising, but governance is the blocker.</a:t>
            </a:r>
          </a:p>
          <a:p>
            <a:r>
              <a:rPr lang="en-US"/>
              <a:t>The opportunity is the missing layer between messy enterprise data and AI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the problem concrete: enterprise data is fragmented, inconsistent, and often uncertified.</a:t>
            </a:r>
          </a:p>
          <a:p>
            <a:r>
              <a:rPr lang="en-US"/>
              <a:t>AI can amplify bad inputs into confident but wrong operational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MGE is deterministic infrastructure, not another AI model.</a:t>
            </a:r>
          </a:p>
          <a:p>
            <a:r>
              <a:rPr lang="en-US"/>
              <a:t>It defines rules, tests evidence, certifies outputs, and creates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architecture simply: Sentry proves it, Cortex exposes it, MGE scales it.</a:t>
            </a:r>
          </a:p>
          <a:p>
            <a:r>
              <a:rPr lang="en-US"/>
              <a:t>Restaurants are the wedge; certified intelligence infrastructure is the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are already in-market with Sentry and focused on charter customers.</a:t>
            </a:r>
          </a:p>
          <a:p>
            <a:r>
              <a:rPr lang="en-US"/>
              <a:t>The goal is proof: customers, certification volume, revenue signal, and reference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$500K seed is a focused infrastructure round, not a vanity raise.</a:t>
            </a:r>
          </a:p>
          <a:p>
            <a:r>
              <a:rPr lang="en-US"/>
              <a:t>Capital converts the launched wedge into scalable MGE, Sentry V2, Cortex, and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two viable paths: angel capital or strategic acceleration.</a:t>
            </a:r>
          </a:p>
          <a:p>
            <a:r>
              <a:rPr lang="en-US"/>
              <a:t>The right partner understands infrastructure value before monetization is fully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by reframing diligence: ARR matters, but category fit comes first.</a:t>
            </a:r>
          </a:p>
          <a:p>
            <a:r>
              <a:rPr lang="en-US"/>
              <a:t>Ask for 30 minutes to evaluate the trust-infrastructure thesis and financing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Keep this as backup, not a main presentation slide.</a:t>
            </a:r>
          </a:p>
          <a:p>
            <a:r>
              <a:rPr lang="en-US"/>
              <a:t>Use only if someone asks for source support behind the AI-agent and governance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mgepilot.fohboh.ai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abstract_tech_themed_digital_illustration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7FB"/>
                </a:solidFill>
              </a:rPr>
              <a:t>FohBoh.ai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40080" y="182880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Certified Intelligence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76656" y="3401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6E6F7"/>
                </a:solidFill>
              </a:rPr>
              <a:t>A deterministic trust layer for enterprise AI, agents, systems of record, and operational intelligence.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76656" y="4315968"/>
            <a:ext cx="2514600" cy="310896"/>
          </a:xfrm>
          <a:prstGeom prst="roundRect">
            <a:avLst>
              <a:gd name="adj" fmla="val 17647"/>
            </a:avLst>
          </a:prstGeom>
          <a:solidFill>
            <a:srgbClr val="FFB547">
              <a:alpha val="16000"/>
            </a:srgbClr>
          </a:solidFill>
          <a:ln w="1016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9808" y="4398264"/>
            <a:ext cx="2368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547"/>
                </a:solidFill>
              </a:rPr>
              <a:t>Seed: $500K @ $10M pre-money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401568" y="4315968"/>
            <a:ext cx="2816352" cy="310896"/>
          </a:xfrm>
          <a:prstGeom prst="roundRect">
            <a:avLst>
              <a:gd name="adj" fmla="val 17647"/>
            </a:avLst>
          </a:prstGeom>
          <a:solidFill>
            <a:srgbClr val="15B8FF">
              <a:alpha val="16000"/>
            </a:srgbClr>
          </a:solidFill>
          <a:ln w="1016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0" y="4398264"/>
            <a:ext cx="2670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B8FF"/>
                </a:solidFill>
              </a:rPr>
              <a:t>Sentry launched as commercial wedge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76656" y="6153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7C7"/>
                </a:solidFill>
              </a:rPr>
              <a:t>Investor opening deck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01</a:t>
            </a:r>
            <a:endParaRPr lang="en-US" sz="850" dirty="0"/>
          </a:p>
        </p:txBody>
      </p:sp>
      <p:sp>
        <p:nvSpPr>
          <p:cNvPr id="13" name="TextBox 12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futuristic_digital_network_abstract_s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831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thesis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94360" y="914400"/>
            <a:ext cx="1828800" cy="0"/>
          </a:xfrm>
          <a:prstGeom prst="line">
            <a:avLst/>
          </a:prstGeom>
          <a:noFill/>
          <a:ln w="2540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77241" y="1001269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Before AI can act safely, enterprises need certified business intelligence.</a:t>
            </a:r>
          </a:p>
        </p:txBody>
      </p:sp>
      <p:sp>
        <p:nvSpPr>
          <p:cNvPr id="6" name="Text 3"/>
          <p:cNvSpPr/>
          <p:nvPr/>
        </p:nvSpPr>
        <p:spPr>
          <a:xfrm>
            <a:off x="777241" y="20299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B"/>
                </a:solidFill>
              </a:rPr>
              <a:t>AI models are improving.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4F7FB"/>
                </a:solidFill>
              </a:rPr>
              <a:t>But the enterprise trust problem is not solved by better language generation.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080760" y="1645920"/>
            <a:ext cx="0" cy="3566160"/>
          </a:xfrm>
          <a:prstGeom prst="line">
            <a:avLst/>
          </a:prstGeom>
          <a:noFill/>
          <a:ln w="25400">
            <a:solidFill>
              <a:srgbClr val="15B8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0" y="1938528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6E6F7"/>
                </a:solidFill>
              </a:rPr>
              <a:t>FohBoh.ai certifies the facts, metrics, evidence, provenance, and rules that AI systems depend on before consequential decisions are made.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629400" y="382219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66D9FF"/>
                </a:solidFill>
              </a:rPr>
              <a:t>Not restaurant SaaS.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66D9FF"/>
                </a:solidFill>
              </a:rPr>
              <a:t>Not another dashboard.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66D9FF"/>
                </a:solidFill>
              </a:rPr>
              <a:t>Infrastructure for trusted AI.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02</a:t>
            </a:r>
            <a:endParaRPr lang="en-US" sz="850" dirty="0"/>
          </a:p>
        </p:txBody>
      </p:sp>
      <p:sp>
        <p:nvSpPr>
          <p:cNvPr id="12" name="TextBox 11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1828800" cy="0"/>
          </a:xfrm>
          <a:prstGeom prst="line">
            <a:avLst/>
          </a:prstGeom>
          <a:noFill/>
          <a:ln w="2540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7C7"/>
                </a:solidFill>
              </a:rPr>
              <a:t>The AI-agent adoption curve is steep. The governance layer is still immature.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15B8FF"/>
                </a:solidFill>
              </a:rPr>
              <a:t>17%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514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B"/>
                </a:solidFill>
              </a:rPr>
              <a:t>of organizations have deployed AI agents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60520" y="1783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63E6BE"/>
                </a:solidFill>
              </a:rPr>
              <a:t>60%+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4160520" y="2468880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B"/>
                </a:solidFill>
              </a:rPr>
              <a:t>expect to deploy AI agents within two years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06640" y="1783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B547"/>
                </a:solidFill>
              </a:rPr>
              <a:t>40%+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06640" y="2468880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4F7FB"/>
                </a:solidFill>
              </a:rPr>
              <a:t>of agentic AI projects projected to be canceled by end of 2027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10012680" cy="0"/>
          </a:xfrm>
          <a:prstGeom prst="line">
            <a:avLst/>
          </a:prstGeom>
          <a:noFill/>
          <a:ln w="15240">
            <a:solidFill>
              <a:srgbClr val="2442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43891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7FB"/>
                </a:solidFill>
              </a:rPr>
              <a:t>The opportunity is not another model. It is the missing enterprise infrastructure between unreliable business inputs and AI-driven decisions.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03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94760" y="6547104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07086"/>
                </a:solidFill>
              </a:rPr>
              <a:t>Sources: Gartner 2026 Hype Cycle for Agentic AI; Gartner June 25, 2025 agentic AI projects forecast.</a:t>
            </a:r>
            <a:endParaRPr lang="en-US" sz="650" dirty="0"/>
          </a:p>
        </p:txBody>
      </p:sp>
      <p:sp>
        <p:nvSpPr>
          <p:cNvPr id="16" name="TextBox 15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1828800" cy="0"/>
          </a:xfrm>
          <a:prstGeom prst="line">
            <a:avLst/>
          </a:prstGeom>
          <a:noFill/>
          <a:ln w="2540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7C7"/>
                </a:solidFill>
              </a:rPr>
              <a:t>AI can reason over information. It cannot independently certify whether the information is true.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B8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4F7FB"/>
                </a:solidFill>
              </a:rPr>
              <a:t>Data chaos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5E2EF"/>
                </a:solidFill>
              </a:rPr>
              <a:t>Different definitions, source systems, contracts, statements, time windows and owners.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2788920" cy="0"/>
          </a:xfrm>
          <a:prstGeom prst="line">
            <a:avLst/>
          </a:prstGeom>
          <a:noFill/>
          <a:ln w="25400">
            <a:solidFill>
              <a:srgbClr val="15B8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572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B8FF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029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4F7FB"/>
                </a:solidFill>
              </a:rPr>
              <a:t>AI exposure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5E2EF"/>
                </a:solidFill>
              </a:rPr>
              <a:t>A model can produce confident answers over incorrect, incomplete, or ungoverned inputs.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4160520"/>
            <a:ext cx="2788920" cy="0"/>
          </a:xfrm>
          <a:prstGeom prst="line">
            <a:avLst/>
          </a:prstGeom>
          <a:noFill/>
          <a:ln w="25400">
            <a:solidFill>
              <a:srgbClr val="FFB54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58200" y="1572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B8FF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2029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4F7FB"/>
                </a:solidFill>
              </a:rPr>
              <a:t>Enterprise risk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58200" y="2697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5E2EF"/>
                </a:solidFill>
              </a:rPr>
              <a:t>Without deterministic controls, agentic AI turns ambiguity into action.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58200" y="4160520"/>
            <a:ext cx="2788920" cy="0"/>
          </a:xfrm>
          <a:prstGeom prst="line">
            <a:avLst/>
          </a:prstGeom>
          <a:noFill/>
          <a:ln w="25400">
            <a:solidFill>
              <a:srgbClr val="15B8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B547"/>
                </a:solidFill>
              </a:rPr>
              <a:t>The failure mode is not just hallucination. It is AI making consequential decisions from uncertified operational reality.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04</a:t>
            </a:r>
            <a:endParaRPr lang="en-US" sz="850" dirty="0"/>
          </a:p>
        </p:txBody>
      </p:sp>
      <p:sp>
        <p:nvSpPr>
          <p:cNvPr id="20" name="TextBox 19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high_tech_network_architecture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answer: MGE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94360" y="914400"/>
            <a:ext cx="1828800" cy="0"/>
          </a:xfrm>
          <a:prstGeom prst="line">
            <a:avLst/>
          </a:prstGeom>
          <a:noFill/>
          <a:ln w="2540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9436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7C7"/>
                </a:solidFill>
              </a:rPr>
              <a:t>Metrics Governance Engine — deterministic certification infrastructure.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16459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</a:rPr>
              <a:t>MGE sits between enterprise data and AI.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68680" y="2679192"/>
            <a:ext cx="73152" cy="73152"/>
          </a:xfrm>
          <a:prstGeom prst="ellipse">
            <a:avLst/>
          </a:prstGeom>
          <a:solidFill>
            <a:srgbClr val="15B8FF"/>
          </a:solidFill>
          <a:ln w="12700">
            <a:solidFill>
              <a:srgbClr val="15B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33272" y="2606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7FB"/>
                </a:solidFill>
              </a:rPr>
              <a:t>Defines the metric and its governing rules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3227832"/>
            <a:ext cx="73152" cy="73152"/>
          </a:xfrm>
          <a:prstGeom prst="ellipse">
            <a:avLst/>
          </a:prstGeom>
          <a:solidFill>
            <a:srgbClr val="15B8FF"/>
          </a:solidFill>
          <a:ln w="12700">
            <a:solidFill>
              <a:srgbClr val="15B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33272" y="3154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7FB"/>
                </a:solidFill>
              </a:rPr>
              <a:t>Tests evidence, provenance and reconciliation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3776472"/>
            <a:ext cx="73152" cy="73152"/>
          </a:xfrm>
          <a:prstGeom prst="ellipse">
            <a:avLst/>
          </a:prstGeom>
          <a:solidFill>
            <a:srgbClr val="15B8FF"/>
          </a:solidFill>
          <a:ln w="12700">
            <a:solidFill>
              <a:srgbClr val="15B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33272" y="3703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7FB"/>
                </a:solidFill>
              </a:rPr>
              <a:t>Produces certified intelligence objects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4325112"/>
            <a:ext cx="73152" cy="73152"/>
          </a:xfrm>
          <a:prstGeom prst="ellipse">
            <a:avLst/>
          </a:prstGeom>
          <a:solidFill>
            <a:srgbClr val="15B8FF"/>
          </a:solidFill>
          <a:ln w="12700">
            <a:solidFill>
              <a:srgbClr val="15B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33272" y="42519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7FB"/>
                </a:solidFill>
              </a:rPr>
              <a:t>Creates auditability before AI action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78040" y="4800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66D9FF"/>
                </a:solidFill>
              </a:rPr>
              <a:t>From probabilistic outputs</a:t>
            </a:r>
            <a:endParaRPr lang="en-US" sz="2400" dirty="0"/>
          </a:p>
          <a:p>
            <a:pPr marL="0" indent="0" algn="r">
              <a:buNone/>
            </a:pPr>
            <a:r>
              <a:rPr lang="en-US" sz="2400" b="1" dirty="0">
                <a:solidFill>
                  <a:srgbClr val="66D9FF"/>
                </a:solidFill>
              </a:rPr>
              <a:t>to governed intelligence.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05</a:t>
            </a:r>
            <a:endParaRPr lang="en-US" sz="850" dirty="0"/>
          </a:p>
        </p:txBody>
      </p:sp>
      <p:sp>
        <p:nvSpPr>
          <p:cNvPr id="18" name="TextBox 17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company scales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1828800" cy="0"/>
          </a:xfrm>
          <a:prstGeom prst="line">
            <a:avLst/>
          </a:prstGeom>
          <a:noFill/>
          <a:ln w="2540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7C7"/>
                </a:solidFill>
              </a:rPr>
              <a:t>Sentry proves the engine. Cortex shows the AI experience. MGE becomes the infrastructure.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E2B47"/>
          </a:solidFill>
          <a:ln w="1524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691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4F7FB"/>
                </a:solidFill>
              </a:rPr>
              <a:t>Sentry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383280" y="16002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B8FF"/>
                </a:solidFill>
              </a:rPr>
              <a:t>Commercial wedge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984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6E2EF"/>
                </a:solidFill>
              </a:rPr>
              <a:t>Launched in restaurant operations to prove MGE functionality and create early revenue.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5400000">
            <a:off x="1572768" y="2505456"/>
            <a:ext cx="457200" cy="320040"/>
          </a:xfrm>
          <a:prstGeom prst="chevron">
            <a:avLst/>
          </a:prstGeom>
          <a:solidFill>
            <a:srgbClr val="24425C"/>
          </a:solidFill>
          <a:ln w="12700">
            <a:solidFill>
              <a:srgbClr val="2442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31089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0233D"/>
          </a:solidFill>
          <a:ln w="15240">
            <a:solidFill>
              <a:srgbClr val="63E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3291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4F7FB"/>
                </a:solidFill>
              </a:rPr>
              <a:t>Cortex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383280" y="3200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E6BE"/>
                </a:solidFill>
              </a:rPr>
              <a:t>Certified AI interface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35844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6E2EF"/>
                </a:solidFill>
              </a:rPr>
              <a:t>AI answers and advice operate only on governed, certified intelligence.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 rot="5400000">
            <a:off x="1572768" y="4105656"/>
            <a:ext cx="457200" cy="320040"/>
          </a:xfrm>
          <a:prstGeom prst="chevron">
            <a:avLst/>
          </a:prstGeom>
          <a:solidFill>
            <a:srgbClr val="24425C"/>
          </a:solidFill>
          <a:ln w="12700">
            <a:solidFill>
              <a:srgbClr val="2442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7091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7253A"/>
          </a:solidFill>
          <a:ln w="1524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48920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4F7FB"/>
                </a:solidFill>
              </a:rPr>
              <a:t>Headless MGE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383280" y="4800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547"/>
                </a:solidFill>
              </a:rPr>
              <a:t>Infrastructure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51846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6E2EF"/>
                </a:solidFill>
              </a:rPr>
              <a:t>APIs for systems of record, POS, BI, AI platforms and enterprise agents.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06</a:t>
            </a:r>
            <a:endParaRPr lang="en-US" sz="850" dirty="0"/>
          </a:p>
        </p:txBody>
      </p:sp>
      <p:sp>
        <p:nvSpPr>
          <p:cNvPr id="21" name="TextBox 20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we are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1828800" cy="0"/>
          </a:xfrm>
          <a:prstGeom prst="line">
            <a:avLst/>
          </a:prstGeom>
          <a:noFill/>
          <a:ln w="2540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7C7"/>
                </a:solidFill>
              </a:rPr>
              <a:t>Launched wedge. Focused charter program. Low-friction path to proof.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B8FF"/>
                </a:solidFill>
              </a:rPr>
              <a:t>Now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568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7FB"/>
                </a:solidFill>
              </a:rPr>
              <a:t>Sentry launched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6E2EF"/>
                </a:solidFill>
              </a:rPr>
              <a:t>M01 + M02 modules use MGE to certify operational/financial intelligence and expose measurable discrepancies.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20640" y="1463040"/>
            <a:ext cx="0" cy="4114800"/>
          </a:xfrm>
          <a:prstGeom prst="line">
            <a:avLst/>
          </a:prstGeom>
          <a:noFill/>
          <a:ln w="16510">
            <a:solidFill>
              <a:srgbClr val="2442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3212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547"/>
                </a:solidFill>
              </a:rPr>
              <a:t>Next 75 days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32120" y="195681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4F7FB"/>
                </a:solidFill>
              </a:rPr>
              <a:t>25–50 charter customers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5559552" y="2697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6E2EF"/>
                </a:solidFill>
              </a:rPr>
              <a:t>Charter pricing lowers sales resistance while generating customer proof, certification volume, revenue signal and reference accounts.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6D9FF"/>
                </a:solidFill>
              </a:rPr>
              <a:t>The objective is not to over-optimize early ARR. It is to prove the infrastructure in the field.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07</a:t>
            </a:r>
            <a:endParaRPr lang="en-US" sz="850" dirty="0"/>
          </a:p>
        </p:txBody>
      </p:sp>
      <p:sp>
        <p:nvSpPr>
          <p:cNvPr id="15" name="TextBox 14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financing ask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1828800" cy="0"/>
          </a:xfrm>
          <a:prstGeom prst="line">
            <a:avLst/>
          </a:prstGeom>
          <a:noFill/>
          <a:ln w="2540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7C7"/>
                </a:solidFill>
              </a:rPr>
              <a:t>A small seed round to complete the infrastructure phase.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5819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B547"/>
                </a:solidFill>
              </a:rPr>
              <a:t>$500K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B"/>
                </a:solidFill>
              </a:rPr>
              <a:t>at a $10M pre-money valuation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325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B8FF"/>
                </a:solidFill>
              </a:rPr>
              <a:t>Production MGE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65506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6E2EF"/>
                </a:solidFill>
              </a:rPr>
              <a:t>Scalable engine, certification pipeline, logs, API foundations.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B8FF"/>
                </a:solidFill>
              </a:rPr>
              <a:t>Sentry V2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70662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6E2EF"/>
                </a:solidFill>
              </a:rPr>
              <a:t>Automation, stronger onboarding, faster certification cycles.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3429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E6BE"/>
                </a:solidFill>
              </a:rPr>
              <a:t>Cortex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75818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6E2EF"/>
                </a:solidFill>
              </a:rPr>
              <a:t>Certified intelligence interface for customers and future enterprise use.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4480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E6BE"/>
                </a:solidFill>
              </a:rPr>
              <a:t>Distribution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48097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6E2EF"/>
                </a:solidFill>
              </a:rPr>
              <a:t>25–50 customers, early reseller / strategic partner conversations.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4041648"/>
            <a:ext cx="2148840" cy="0"/>
          </a:xfrm>
          <a:prstGeom prst="line">
            <a:avLst/>
          </a:prstGeom>
          <a:noFill/>
          <a:ln w="254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3891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B"/>
                </a:solidFill>
              </a:rPr>
              <a:t>Milestone: many clients, measurable revenue growth and first reseller/strategic relationships.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08</a:t>
            </a:r>
            <a:endParaRPr lang="en-US" sz="850" dirty="0"/>
          </a:p>
        </p:txBody>
      </p:sp>
      <p:sp>
        <p:nvSpPr>
          <p:cNvPr id="19" name="TextBox 18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paths forward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1828800" cy="0"/>
          </a:xfrm>
          <a:prstGeom prst="line">
            <a:avLst/>
          </a:prstGeom>
          <a:noFill/>
          <a:ln w="2540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7C7"/>
                </a:solidFill>
              </a:rPr>
              <a:t>Financial seed capital, strategic acceleration — or both.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B8FF"/>
                </a:solidFill>
              </a:rPr>
              <a:t>Path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</a:rPr>
              <a:t>Angel capital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6E2EF"/>
                </a:solidFill>
              </a:rPr>
              <a:t>Complete MGE, expand Sentry, launch Cortex, demonstrate repeatable customer economics, then raise a larger institutional round from strength.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9320" y="1371600"/>
            <a:ext cx="0" cy="4206240"/>
          </a:xfrm>
          <a:prstGeom prst="line">
            <a:avLst/>
          </a:prstGeom>
          <a:noFill/>
          <a:ln w="16510">
            <a:solidFill>
              <a:srgbClr val="2442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547"/>
                </a:solidFill>
              </a:rPr>
              <a:t>Path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</a:rPr>
              <a:t>Strategic partner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46520" y="2633472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6E2EF"/>
                </a:solidFill>
              </a:rPr>
              <a:t>Align with a company that already owns enterprise data, POS, BI, systems-of-record distribution, or AI infrastructure and needs a trust layer.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52578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D9FF"/>
                </a:solidFill>
              </a:rPr>
              <a:t>The right investor understands that infrastructure value appears before infrastructure monetization is obvious.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09</a:t>
            </a:r>
            <a:endParaRPr lang="en-US" sz="850" dirty="0"/>
          </a:p>
        </p:txBody>
      </p:sp>
      <p:sp>
        <p:nvSpPr>
          <p:cNvPr id="15" name="TextBox 14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abstract_tech_themed_digital_illustration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4173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4F7FB"/>
                </a:solidFill>
              </a:rPr>
              <a:t>The first question is not ARR.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13232" y="23317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D6E6F7"/>
                </a:solidFill>
              </a:rPr>
              <a:t>The first question is whether AI can be trusted to act on uncertified business intelligence.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38862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66D9FF"/>
                </a:solidFill>
              </a:rPr>
              <a:t>FohBoh.ai built the deterministic layer for that answer.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49808" y="50109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</a:rPr>
              <a:t>Ask: 30 minutes to discuss the category, the architecture, and the financing path.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10</a:t>
            </a:r>
            <a:endParaRPr lang="en-US" sz="850" dirty="0"/>
          </a:p>
        </p:txBody>
      </p:sp>
      <p:sp>
        <p:nvSpPr>
          <p:cNvPr id="9" name="TextBox 8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notes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1828800" cy="0"/>
          </a:xfrm>
          <a:prstGeom prst="line">
            <a:avLst/>
          </a:prstGeom>
          <a:noFill/>
          <a:ln w="25400">
            <a:solidFill>
              <a:srgbClr val="15B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9B7C7"/>
                </a:solidFill>
              </a:rPr>
              <a:t>Use selectively; keep this slide as appendix if presenting live.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E2EF"/>
                </a:solidFill>
              </a:rPr>
              <a:t>Gartner, 2026 Hype Cycle for Agentic AI: 17% deployed AI agents today; more than 60% expect deployment within two years.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E2EF"/>
                </a:solidFill>
              </a:rPr>
              <a:t>Gartner, June 25, 2025: over 40% of agentic AI projects projected to be canceled by end of 2027 due to cost, unclear value or inadequate risk controls.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E2EF"/>
                </a:solidFill>
              </a:rPr>
              <a:t>Gartner, May 11, 2026: lack of semantics causes inaccurate AI agents and wasted spending; agents require input context throughout workflows.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8221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E2EF"/>
                </a:solidFill>
              </a:rPr>
              <a:t>Gartner, May 26, 2026: 40% of enterprises forecast to demote or decommission autonomous AI agents due to governance gaps after production incidents.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800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A9B7C7"/>
                </a:solidFill>
              </a:rPr>
              <a:t>Deck positioning based on FohBoh.ai / MGE / Sentry / Cortex / Intelligence Under Management strategy materials.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086"/>
                </a:solidFill>
              </a:rPr>
              <a:t>FohBoh.ai  |  Confidential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086"/>
                </a:solidFill>
              </a:rPr>
              <a:t>11</a:t>
            </a:r>
            <a:endParaRPr lang="en-US" sz="850" dirty="0"/>
          </a:p>
        </p:txBody>
      </p:sp>
      <p:sp>
        <p:nvSpPr>
          <p:cNvPr id="12" name="TextBox 11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55279" y="-731520"/>
            <a:ext cx="5303520" cy="5303520"/>
          </a:xfrm>
          <a:prstGeom prst="ellipse">
            <a:avLst/>
          </a:prstGeom>
          <a:solidFill>
            <a:srgbClr val="082148"/>
          </a:solidFill>
          <a:ln>
            <a:solidFill>
              <a:srgbClr val="2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914400"/>
            <a:ext cx="3200400" cy="3200400"/>
          </a:xfrm>
          <a:prstGeom prst="ellipse">
            <a:avLst/>
          </a:prstGeom>
          <a:solidFill>
            <a:srgbClr val="082148"/>
          </a:solidFill>
          <a:ln>
            <a:solidFill>
              <a:srgbClr val="2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58368" cy="41148"/>
          </a:xfrm>
          <a:prstGeom prst="rect">
            <a:avLst/>
          </a:prstGeom>
          <a:solidFill>
            <a:srgbClr val="25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EE7FF"/>
                </a:solidFill>
                <a:latin typeface="Aptos"/>
              </a:rPr>
              <a:t>FohBoh.ai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1762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2CA"/>
                </a:solidFill>
                <a:latin typeface="Aptos"/>
              </a:rPr>
              <a:t>For financing, strategic-partner, and investor follow-up.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EF6FF"/>
                </a:solidFill>
                <a:latin typeface="Aptos"/>
              </a:rPr>
              <a:t>Michael L. Atkinson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6B94A"/>
                </a:solidFill>
                <a:latin typeface="Aptos"/>
              </a:rPr>
              <a:t>CEO, Bailiwick Ventures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5935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6F5"/>
                </a:solidFill>
                <a:latin typeface="Aptos"/>
              </a:rPr>
              <a:t>michael@bailiwickventures.com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1655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6F5"/>
                </a:solidFill>
                <a:latin typeface="Aptos"/>
              </a:rPr>
              <a:t>(650) 206-8405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15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EE7FF"/>
                </a:solidFill>
                <a:latin typeface="Aptos"/>
              </a:rPr>
              <a:t>Certified Intelligence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dirty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68C5B-D643-B98A-44EA-DD91C133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EE50C71-02F2-D740-5FD4-5D8F9E6EC654}"/>
              </a:ext>
            </a:extLst>
          </p:cNvPr>
          <p:cNvSpPr/>
          <p:nvPr/>
        </p:nvSpPr>
        <p:spPr>
          <a:xfrm>
            <a:off x="7955279" y="-731520"/>
            <a:ext cx="5303520" cy="5303520"/>
          </a:xfrm>
          <a:prstGeom prst="ellipse">
            <a:avLst/>
          </a:prstGeom>
          <a:solidFill>
            <a:srgbClr val="082148"/>
          </a:solidFill>
          <a:ln>
            <a:solidFill>
              <a:srgbClr val="2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5E0F4A0-EE69-257B-03EC-051AC0FBEC79}"/>
              </a:ext>
            </a:extLst>
          </p:cNvPr>
          <p:cNvSpPr/>
          <p:nvPr/>
        </p:nvSpPr>
        <p:spPr>
          <a:xfrm>
            <a:off x="8869680" y="914400"/>
            <a:ext cx="3200400" cy="3200400"/>
          </a:xfrm>
          <a:prstGeom prst="ellipse">
            <a:avLst/>
          </a:prstGeom>
          <a:solidFill>
            <a:srgbClr val="082148"/>
          </a:solidFill>
          <a:ln>
            <a:solidFill>
              <a:srgbClr val="2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485BC-D919-9791-0390-FE8EA4BC880F}"/>
              </a:ext>
            </a:extLst>
          </p:cNvPr>
          <p:cNvSpPr/>
          <p:nvPr/>
        </p:nvSpPr>
        <p:spPr>
          <a:xfrm>
            <a:off x="640080" y="658368"/>
            <a:ext cx="658368" cy="41148"/>
          </a:xfrm>
          <a:prstGeom prst="rect">
            <a:avLst/>
          </a:prstGeom>
          <a:solidFill>
            <a:srgbClr val="25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0B796-438A-0D00-3C70-BA622F48FACF}"/>
              </a:ext>
            </a:extLst>
          </p:cNvPr>
          <p:cNvSpPr txBox="1"/>
          <p:nvPr/>
        </p:nvSpPr>
        <p:spPr>
          <a:xfrm>
            <a:off x="658368" y="822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EE7FF"/>
                </a:solidFill>
                <a:latin typeface="Aptos"/>
              </a:rPr>
              <a:t>FohBoh.ai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3E19D0-A2D5-A49B-4B2F-994FA6058B86}"/>
              </a:ext>
            </a:extLst>
          </p:cNvPr>
          <p:cNvSpPr txBox="1"/>
          <p:nvPr/>
        </p:nvSpPr>
        <p:spPr>
          <a:xfrm>
            <a:off x="9646920" y="6556248"/>
            <a:ext cx="2240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dirty="0">
                <a:solidFill>
                  <a:srgbClr val="8496AE"/>
                </a:solidFill>
                <a:latin typeface="Aptos"/>
              </a:rPr>
              <a:t>© 2026 FohBoh.ai, Inc.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095D2-8034-A937-4EBA-25DC663BA38C}"/>
              </a:ext>
            </a:extLst>
          </p:cNvPr>
          <p:cNvSpPr txBox="1"/>
          <p:nvPr/>
        </p:nvSpPr>
        <p:spPr>
          <a:xfrm>
            <a:off x="2308513" y="3167390"/>
            <a:ext cx="578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hlinkClick r:id="rId2"/>
              </a:rPr>
              <a:t>See the Headless Pilot in Action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109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3134</TotalTime>
  <Words>1384</Words>
  <Application>Microsoft Macintosh PowerPoint</Application>
  <PresentationFormat>Widescreen</PresentationFormat>
  <Paragraphs>177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FohBoh.ai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FohBoh.ai Financing Pitch</dc:title>
  <dc:subject>Certified Intelligence Infrastructure</dc:subject>
  <dc:creator>FohBoh.ai</dc:creator>
  <cp:lastModifiedBy>Michael Atkinson</cp:lastModifiedBy>
  <cp:revision>3</cp:revision>
  <dcterms:created xsi:type="dcterms:W3CDTF">2026-08-18T14:54:24Z</dcterms:created>
  <dcterms:modified xsi:type="dcterms:W3CDTF">2026-08-24T20:27:02Z</dcterms:modified>
</cp:coreProperties>
</file>